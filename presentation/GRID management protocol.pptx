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Roboto Mon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.fntdata"/><Relationship Id="rId6" Type="http://schemas.openxmlformats.org/officeDocument/2006/relationships/slide" Target="slides/slide1.xml"/><Relationship Id="rId18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80f9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80f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75d873f7b_0_70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75d873f7b_0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75d873f7b_0_70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75d873f7b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75d873f7b_0_7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75d873f7b_0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76bb73506_0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76bb7350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76bb73506_0_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76bb7350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c6f980f91_0_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c6f980f9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GRID - management protocol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2500" y="4269275"/>
            <a:ext cx="28377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297"/>
              <a:t>Nikola Babić RA94/2023</a:t>
            </a:r>
            <a:endParaRPr sz="1297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297"/>
              <a:t>Aleksandar Đurović RA121/2023</a:t>
            </a:r>
            <a:endParaRPr sz="1297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UVOD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Cilj projekta: Implementacija TCP klijent–server aplikacije koja modeluje razvodno postrojenje (GRID)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Tehnologije: C, TCP/IP </a:t>
            </a:r>
            <a:r>
              <a:rPr lang="en" sz="1400"/>
              <a:t>(SOCK_STREAM)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K</a:t>
            </a:r>
            <a:r>
              <a:rPr lang="en" sz="1400"/>
              <a:t>lijent-server model: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Server generiše analogne i digitalne module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Klijent ima mogućnost izlistavanja i komandovanja modulima</a:t>
            </a:r>
            <a:br>
              <a:rPr lang="en" sz="1400"/>
            </a:b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STRUKTURA PROJEKTA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-client.c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-server.c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-global_variables.h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-Makefile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-README.md</a:t>
            </a:r>
            <a:br>
              <a:rPr lang="en" sz="1400"/>
            </a:b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MREŽNA ARHITEKTURA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/>
              <a:t>- </a:t>
            </a:r>
            <a:r>
              <a:rPr lang="en" sz="1250"/>
              <a:t>IP adresa i port: Server koristi 127.0.0.1 i port 12345 za prihvatanje dolaznih konekcija.</a:t>
            </a:r>
            <a:endParaRPr sz="12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/>
              <a:t>- Socket funkcije servera:</a:t>
            </a:r>
            <a:endParaRPr sz="12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50"/>
              <a:t>  </a:t>
            </a:r>
            <a:r>
              <a:rPr b="1" lang="en" sz="1250"/>
              <a:t>socket() </a:t>
            </a:r>
            <a:r>
              <a:rPr lang="en" sz="1250"/>
              <a:t>– kreira TCP socket za komunikaciju.</a:t>
            </a:r>
            <a:endParaRPr sz="12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50"/>
              <a:t>  bind()</a:t>
            </a:r>
            <a:r>
              <a:rPr lang="en" sz="1250"/>
              <a:t> – povezuje socket sa zadatom IP adresom i portom.</a:t>
            </a:r>
            <a:endParaRPr sz="12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50"/>
              <a:t>  listen() </a:t>
            </a:r>
            <a:r>
              <a:rPr lang="en" sz="1250"/>
              <a:t>– server počinje da sluša dolazne zahteve. </a:t>
            </a:r>
            <a:endParaRPr sz="12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50"/>
              <a:t>  accept() </a:t>
            </a:r>
            <a:r>
              <a:rPr lang="en" sz="1250"/>
              <a:t>– prihvata konekciju klijenta.</a:t>
            </a:r>
            <a:endParaRPr sz="12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/>
              <a:t>- </a:t>
            </a:r>
            <a:r>
              <a:rPr lang="en" sz="1250"/>
              <a:t>Klijent: koristi </a:t>
            </a:r>
            <a:r>
              <a:rPr b="1" lang="en" sz="1250"/>
              <a:t>connect()</a:t>
            </a:r>
            <a:r>
              <a:rPr lang="en" sz="1250"/>
              <a:t> da se poveže na server preko iste IP adrese i porta.</a:t>
            </a:r>
            <a:endParaRPr sz="12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/>
              <a:t>- Razmena podataka:</a:t>
            </a:r>
            <a:endParaRPr sz="12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50"/>
              <a:t>  send() </a:t>
            </a:r>
            <a:r>
              <a:rPr lang="en" sz="1250"/>
              <a:t>–klijent i server šalju poruke.</a:t>
            </a:r>
            <a:endParaRPr sz="12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b="1" lang="en" sz="1250"/>
              <a:t>  </a:t>
            </a:r>
            <a:r>
              <a:rPr b="1" lang="en" sz="1250"/>
              <a:t>r</a:t>
            </a:r>
            <a:r>
              <a:rPr b="1" lang="en" sz="1250"/>
              <a:t>ecv()</a:t>
            </a:r>
            <a:r>
              <a:rPr lang="en" sz="1250"/>
              <a:t> – klijent i server primaju poruke.</a:t>
            </a:r>
            <a:endParaRPr sz="12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STRUKTURA SERVERA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- </a:t>
            </a:r>
            <a:r>
              <a:rPr lang="en" sz="1400"/>
              <a:t>Server ima model razvodnog postrojenja - čuva niz analognih i digitalnih modula u memoriji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- Broj modula je konfigurabilan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- Unosi se preko argumenata komandne linije u formatu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./server &lt;analog&gt; &lt;digital&gt;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- U podrazumevanom slučaju, broj analognih i digitalnih modula je 10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- Automatska inicijalizacija – imena modula se generišu u formatu A1, A2, ... i D1, D2, ...,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- Vrednosti modula se generišu nasumično (analog: 0-1000, digital: 0/1)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- Server vrši obradu klijentskih zahteva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STRUKTURA KLIJENTA</a:t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- </a:t>
            </a:r>
            <a:r>
              <a:rPr lang="en" sz="1400"/>
              <a:t>Prikazuje interaktivni tekstualni meni sa opcijama (1-5)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- Šalje odabrane zahteve serveru preko TCP konekcije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- Vrši validaciju pravilnog unosa komandi – proverava format, broj parametara i opseg vrednosti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- Prima i prikazuje odgovore servera korisniku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KOMUNIKACIONI PROTOKOL</a:t>
            </a:r>
            <a:endParaRPr/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- </a:t>
            </a:r>
            <a:r>
              <a:rPr lang="en" sz="1400"/>
              <a:t>Zahtevi klijenta su u jednostavnom tekstualnom formatu: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  </a:t>
            </a:r>
            <a:r>
              <a:rPr b="1" lang="en" sz="1400"/>
              <a:t>1</a:t>
            </a:r>
            <a:r>
              <a:rPr lang="en" sz="1400"/>
              <a:t> </a:t>
            </a:r>
            <a:r>
              <a:rPr i="1" lang="en" sz="1400"/>
              <a:t>–</a:t>
            </a:r>
            <a:r>
              <a:rPr lang="en" sz="1400"/>
              <a:t> </a:t>
            </a:r>
            <a:r>
              <a:rPr i="1" lang="en" sz="1400"/>
              <a:t>Izlistaj analogne module </a:t>
            </a:r>
            <a:endParaRPr i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  </a:t>
            </a:r>
            <a:r>
              <a:rPr b="1" lang="en" sz="1400"/>
              <a:t>2</a:t>
            </a:r>
            <a:r>
              <a:rPr lang="en" sz="1400"/>
              <a:t> </a:t>
            </a:r>
            <a:r>
              <a:rPr i="1" lang="en" sz="1400"/>
              <a:t>–</a:t>
            </a:r>
            <a:r>
              <a:rPr lang="en" sz="1400"/>
              <a:t> </a:t>
            </a:r>
            <a:r>
              <a:rPr i="1" lang="en" sz="1400"/>
              <a:t>Izlistaj digitalne module</a:t>
            </a:r>
            <a:endParaRPr i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  </a:t>
            </a:r>
            <a:r>
              <a:rPr b="1" lang="en" sz="1400"/>
              <a:t>3 &lt;name&gt; &lt;value&gt;</a:t>
            </a:r>
            <a:r>
              <a:rPr lang="en" sz="1400"/>
              <a:t> </a:t>
            </a:r>
            <a:r>
              <a:rPr i="1" lang="en" sz="1400"/>
              <a:t>–</a:t>
            </a:r>
            <a:r>
              <a:rPr lang="en" sz="1400"/>
              <a:t> </a:t>
            </a:r>
            <a:r>
              <a:rPr i="1" lang="en" sz="1400"/>
              <a:t>Promena vrednosti analognog modula (0–999)</a:t>
            </a:r>
            <a:endParaRPr i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  </a:t>
            </a:r>
            <a:r>
              <a:rPr b="1" lang="en" sz="1400"/>
              <a:t>4 &lt;name&gt; &lt;value&gt;</a:t>
            </a:r>
            <a:r>
              <a:rPr lang="en" sz="1400"/>
              <a:t> </a:t>
            </a:r>
            <a:r>
              <a:rPr i="1" lang="en" sz="1400"/>
              <a:t>–</a:t>
            </a:r>
            <a:r>
              <a:rPr lang="en" sz="1400"/>
              <a:t> </a:t>
            </a:r>
            <a:r>
              <a:rPr i="1" lang="en" sz="1400"/>
              <a:t>Promena stanja digitalnog modula (0/1)</a:t>
            </a:r>
            <a:endParaRPr i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  </a:t>
            </a:r>
            <a:r>
              <a:rPr b="1" lang="en" sz="1400"/>
              <a:t>5</a:t>
            </a:r>
            <a:r>
              <a:rPr lang="en" sz="1400"/>
              <a:t> </a:t>
            </a:r>
            <a:r>
              <a:rPr i="1" lang="en" sz="1400"/>
              <a:t>–</a:t>
            </a:r>
            <a:r>
              <a:rPr lang="en" sz="1400"/>
              <a:t> </a:t>
            </a:r>
            <a:r>
              <a:rPr i="1" lang="en" sz="1400"/>
              <a:t>Završi komunikaciju</a:t>
            </a:r>
            <a:endParaRPr i="1"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- </a:t>
            </a:r>
            <a:r>
              <a:rPr lang="en" sz="1400"/>
              <a:t>Odgovori su tekstualne poruke  (lista modula ili poruke o uspehu / grešci)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17626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/>
              <a:t>HVALA NA PAŽNJI</a:t>
            </a:r>
            <a:endParaRPr sz="4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